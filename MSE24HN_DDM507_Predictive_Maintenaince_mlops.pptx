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17"/>
  </p:normalViewPr>
  <p:slideViewPr>
    <p:cSldViewPr snapToGrid="0">
      <p:cViewPr varScale="1">
        <p:scale>
          <a:sx n="88" d="100"/>
          <a:sy n="88" d="100"/>
        </p:scale>
        <p:origin x="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76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32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0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02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78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21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3479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9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17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44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87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597C0-BBBB-0D48-81DF-348858A0CF4C}" type="datetimeFigureOut">
              <a:rPr lang="en-VN" smtClean="0"/>
              <a:t>24/12/2025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9CBDB25-7C7D-3F49-800C-78E806170738}" type="slidenum">
              <a:rPr lang="en-VN" smtClean="0"/>
              <a:t>‹#›</a:t>
            </a:fld>
            <a:endParaRPr lang="en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9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file:////Users/macintoshhd/Library/Group%20Containers/UBF8T346G9.ms/WebArchiveCopyPasteTempFiles/com.microsoft.Word/41598_2025_90810_Fig2_HTML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file:////Users/macintoshhd/Library/Group%20Containers/UBF8T346G9.ms/WebArchiveCopyPasteTempFiles/com.microsoft.Word/energies-18-01041-g002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datasetengineer/eviot-predictivemaint-dataset/dat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47062-3AA6-5605-323A-E3D38D950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02298"/>
            <a:ext cx="10914742" cy="2541431"/>
          </a:xfrm>
        </p:spPr>
        <p:txBody>
          <a:bodyPr>
            <a:normAutofit/>
          </a:bodyPr>
          <a:lstStyle/>
          <a:p>
            <a:r>
              <a:rPr lang="en-US" sz="4400" b="0" i="0" u="none" strike="noStrike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MSE25HN </a:t>
            </a:r>
            <a:r>
              <a:rPr lang="en-US" sz="44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- DDM501.7</a:t>
            </a:r>
            <a:br>
              <a:rPr lang="en-US" sz="44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</a:br>
            <a:r>
              <a:rPr lang="en-US" sz="44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Predictive Maintenance MLOP</a:t>
            </a:r>
            <a:br>
              <a:rPr lang="en-US" sz="44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</a:br>
            <a:endParaRPr lang="en-V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811EC-9494-ED39-7767-1A05A5E6C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744686"/>
            <a:ext cx="10140451" cy="2311016"/>
          </a:xfrm>
        </p:spPr>
        <p:txBody>
          <a:bodyPr>
            <a:normAutofit fontScale="85000" lnSpcReduction="20000"/>
          </a:bodyPr>
          <a:lstStyle/>
          <a:p>
            <a:r>
              <a:rPr lang="en-VN" dirty="0"/>
              <a:t>Instructor: Nguyen doan dong</a:t>
            </a:r>
          </a:p>
          <a:p>
            <a:r>
              <a:rPr lang="en-VN" dirty="0"/>
              <a:t>Student: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Nguyen Ngoc Tam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Nguyen BA 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Bui Duc 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Nguyen anh Duc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14732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A27C-F239-FF70-9F35-DCC53323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4B92D-A608-81AE-028B-B9A48F96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VN" dirty="0"/>
              <a:t>hat is </a:t>
            </a:r>
            <a:r>
              <a:rPr lang="en-US" sz="20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Predictive Maintenance in electric vehicle.</a:t>
            </a:r>
          </a:p>
          <a:p>
            <a:r>
              <a:rPr lang="en-US" sz="20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Predictive Maintenance in ML Flow.</a:t>
            </a:r>
          </a:p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Dataset and AI algorithm</a:t>
            </a:r>
          </a:p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Machine Learning Flow: MLOP</a:t>
            </a:r>
          </a:p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Alert, Monitoring and Dashboard</a:t>
            </a:r>
          </a:p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Demo</a:t>
            </a:r>
            <a:endParaRPr lang="en-US" sz="2000" b="0" i="0" u="none" strike="noStrike" dirty="0">
              <a:solidFill>
                <a:srgbClr val="222222"/>
              </a:solidFill>
              <a:effectLst/>
              <a:latin typeface="Helvetica Neue" panose="02000503000000020004" pitchFamily="2" charset="0"/>
            </a:endParaRP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97660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6767-52D4-BB6C-C8D8-ED578419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VN" dirty="0"/>
              <a:t>hat is </a:t>
            </a:r>
            <a:r>
              <a:rPr lang="en-US" sz="32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Predictive Maintenance in electric vehicle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BE02D-9A60-801C-B0A2-DDD9F9B4D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494" y="2030247"/>
            <a:ext cx="5747506" cy="4023234"/>
          </a:xfrm>
        </p:spPr>
        <p:txBody>
          <a:bodyPr>
            <a:normAutofit fontScale="92500"/>
          </a:bodyPr>
          <a:lstStyle/>
          <a:p>
            <a:r>
              <a:rPr lang="en-V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Predictive maintenance (PdM)</a:t>
            </a:r>
            <a:r>
              <a:rPr lang="en-V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electric vehicles (EVs) uses data-driven techniques, primarily </a:t>
            </a:r>
            <a:r>
              <a:rPr lang="en-V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V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V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V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to predict potential failures or degradation before they occur. This shifts from reactive (fix after breakdown) or scheduled maintenance to proactive interventions, reducing downtime, extending component life, and lowering costs.</a:t>
            </a:r>
          </a:p>
          <a:p>
            <a:r>
              <a:rPr lang="en-V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EVs, PdM focuses on critical components like the </a:t>
            </a:r>
            <a:r>
              <a:rPr lang="en-V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lithium-ion battery pack</a:t>
            </a:r>
            <a:r>
              <a:rPr lang="en-V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electric motors, power electronics, inverters, and charging systems. The battery is the most expensive and vital part, so many models target </a:t>
            </a:r>
            <a:r>
              <a:rPr lang="en-V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battery health monitoring</a:t>
            </a:r>
            <a:r>
              <a:rPr lang="en-V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degradation prediction.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6977E1E-C8D1-6EDB-4FDB-820C8C2BBC7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15164" y="872128"/>
            <a:ext cx="928914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VN"/>
          </a:p>
        </p:txBody>
      </p:sp>
      <p:pic>
        <p:nvPicPr>
          <p:cNvPr id="1025" name="Picture 1" descr="Hybrid machine learning framework for predictive maintenance and ...">
            <a:extLst>
              <a:ext uri="{FF2B5EF4-FFF2-40B4-BE49-F238E27FC236}">
                <a16:creationId xmlns:a16="http://schemas.microsoft.com/office/drawing/2014/main" id="{5426129D-5EB4-F770-B74F-100D26583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164" y="2030247"/>
            <a:ext cx="4528457" cy="370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04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6767-52D4-BB6C-C8D8-ED578419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VN" dirty="0"/>
              <a:t>hat is </a:t>
            </a:r>
            <a:r>
              <a:rPr lang="en-US" sz="32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Predictive Maintenance in electric vehicle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BE02D-9A60-801C-B0A2-DDD9F9B4D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493" y="2030247"/>
            <a:ext cx="7565084" cy="4023234"/>
          </a:xfrm>
        </p:spPr>
        <p:txBody>
          <a:bodyPr>
            <a:normAutofit fontScale="77500" lnSpcReduction="20000"/>
          </a:bodyPr>
          <a:lstStyle/>
          <a:p>
            <a:r>
              <a:rPr lang="en-VN" sz="2100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Common predictive models in EV PdM include:</a:t>
            </a:r>
          </a:p>
          <a:p>
            <a:pPr lvl="0">
              <a:buSzPts val="1000"/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VN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Remaining Useful Life (RUL) Prediction</a:t>
            </a:r>
            <a:r>
              <a:rPr lang="en-VN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Estimates how many cycles or miles remain before a component (e.g., battery) needs replacement. Models use regression techniques to forecast based on degradation patterns.</a:t>
            </a:r>
          </a:p>
          <a:p>
            <a:pPr lvl="0">
              <a:buSzPts val="1000"/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VN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 of Health (SOH) Estimation</a:t>
            </a:r>
            <a:r>
              <a:rPr lang="en-VN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Measures battery capacity relative to its original state (e.g., 80% SOH means it holds 80% of new capacity). Lower SOH indicates degradation.</a:t>
            </a:r>
          </a:p>
          <a:p>
            <a:pPr lvl="0">
              <a:buSzPts val="1000"/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VN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 of Charge (SOC) Prediction</a:t>
            </a:r>
            <a:r>
              <a:rPr lang="en-VN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Tracks current battery charge level for efficient energy management.</a:t>
            </a:r>
          </a:p>
          <a:p>
            <a:pPr lvl="0">
              <a:buSzPts val="1000"/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VN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Anomaly/Fault Detection</a:t>
            </a:r>
            <a:r>
              <a:rPr lang="en-VN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Identifies unusual patterns (e.g., overheating) that signal impending failures using classification or anomaly detection.</a:t>
            </a:r>
          </a:p>
          <a:p>
            <a:pPr lvl="0">
              <a:buSzPts val="1000"/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VN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Failure Probability Forecasting</a:t>
            </a:r>
            <a:r>
              <a:rPr lang="en-VN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Predicts likelihood of issues like thermal runaway or motor faults.</a:t>
            </a:r>
          </a:p>
          <a:p>
            <a:endParaRPr lang="en-V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6977E1E-C8D1-6EDB-4FDB-820C8C2BBC7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15164" y="872128"/>
            <a:ext cx="928914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V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56315E-8A97-04A6-D88D-0C7AAB340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86" y="18537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VN"/>
          </a:p>
        </p:txBody>
      </p:sp>
      <p:pic>
        <p:nvPicPr>
          <p:cNvPr id="2049" name="Picture 2" descr="Next Generation of Electric Vehicles: AI-Driven Approaches for ...">
            <a:extLst>
              <a:ext uri="{FF2B5EF4-FFF2-40B4-BE49-F238E27FC236}">
                <a16:creationId xmlns:a16="http://schemas.microsoft.com/office/drawing/2014/main" id="{C64AE84E-A251-B94F-523B-4C94C1D6D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577" y="2030247"/>
            <a:ext cx="4147641" cy="2410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81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EAD5-04CA-A67B-E161-A3FF4C7E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VN" dirty="0"/>
              <a:t>hat is </a:t>
            </a:r>
            <a:r>
              <a:rPr lang="en-US" sz="32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Predictive Maintenance in electric vehicle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996B4-C363-4E87-138E-A20F461B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" y="2015733"/>
            <a:ext cx="11146971" cy="814554"/>
          </a:xfrm>
        </p:spPr>
        <p:txBody>
          <a:bodyPr/>
          <a:lstStyle/>
          <a:p>
            <a:r>
              <a:rPr lang="en-V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flows from vehicle sensors/IoT → cloud processing → ML models → alerts/dashboards for maintenance.</a:t>
            </a:r>
            <a:endParaRPr lang="en-V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E0DA13-DBE2-FF7E-0D15-9C7D084F07D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995885" y="1520328"/>
            <a:ext cx="1044997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VN"/>
          </a:p>
        </p:txBody>
      </p:sp>
      <p:pic>
        <p:nvPicPr>
          <p:cNvPr id="5" name="Picture 4" descr="Using Predictive Maintenance to Prevent Downtime in Factories">
            <a:extLst>
              <a:ext uri="{FF2B5EF4-FFF2-40B4-BE49-F238E27FC236}">
                <a16:creationId xmlns:a16="http://schemas.microsoft.com/office/drawing/2014/main" id="{D196802E-F4CD-A673-FBC4-1DA9D8D56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944" y="2422485"/>
            <a:ext cx="7686234" cy="43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70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16FA-AB88-5EAE-D243-A05CA22E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597" y="114295"/>
            <a:ext cx="9492343" cy="595669"/>
          </a:xfrm>
        </p:spPr>
        <p:txBody>
          <a:bodyPr/>
          <a:lstStyle/>
          <a:p>
            <a:pPr algn="ctr"/>
            <a:r>
              <a:rPr lang="en-US" sz="3200" b="0" i="0" u="none" strike="noStrike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Predictive Maintenance in ML Flow.</a:t>
            </a:r>
            <a:endParaRPr lang="en-US" dirty="0">
              <a:solidFill>
                <a:srgbClr val="222222"/>
              </a:solidFill>
              <a:latin typeface="Helvetica Neue" panose="02000503000000020004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C9463B6-21B8-1D13-8205-997A0D2F6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57713" y="710582"/>
            <a:ext cx="6974113" cy="603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03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16FA-AB88-5EAE-D243-A05CA22E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Dataset and AI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D7E5-CD80-75A6-DCF6-A8EA51E3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</a:t>
            </a:r>
            <a:r>
              <a:rPr lang="en-VN" dirty="0"/>
              <a:t>ataset: </a:t>
            </a:r>
            <a:r>
              <a:rPr lang="en-US" dirty="0">
                <a:hlinkClick r:id="rId2"/>
              </a:rPr>
              <a:t>https://www.kaggle.com/datasets/datasetengineer/eviot-predictivemaint-dataset/data</a:t>
            </a:r>
            <a:endParaRPr lang="en-VN" dirty="0"/>
          </a:p>
          <a:p>
            <a:r>
              <a:rPr lang="en-US" dirty="0"/>
              <a:t>P</a:t>
            </a:r>
            <a:r>
              <a:rPr lang="en-VN" dirty="0"/>
              <a:t>redictive maintanaince algrothim:</a:t>
            </a:r>
          </a:p>
          <a:p>
            <a:pPr lvl="1"/>
            <a:r>
              <a:rPr lang="en-US" sz="2100" dirty="0"/>
              <a:t>A</a:t>
            </a:r>
            <a:r>
              <a:rPr lang="en-VN" sz="2100" dirty="0"/>
              <a:t>nonmoly detection (</a:t>
            </a:r>
            <a:r>
              <a:rPr lang="en-US" sz="2100" dirty="0"/>
              <a:t>Isolation Forest, and Unsupervised learning</a:t>
            </a:r>
            <a:r>
              <a:rPr lang="en-VN" sz="2100" dirty="0"/>
              <a:t>).</a:t>
            </a:r>
          </a:p>
          <a:p>
            <a:pPr lvl="1"/>
            <a:r>
              <a:rPr lang="en-US" sz="2100" dirty="0"/>
              <a:t>C</a:t>
            </a:r>
            <a:r>
              <a:rPr lang="en-VN" sz="2100" dirty="0"/>
              <a:t>lassification (</a:t>
            </a:r>
            <a:r>
              <a:rPr lang="en-US" sz="2100" dirty="0"/>
              <a:t>Maintenance Type Classifier)</a:t>
            </a:r>
          </a:p>
          <a:p>
            <a:pPr lvl="2"/>
            <a:r>
              <a:rPr lang="en-US" sz="2100" dirty="0" err="1"/>
              <a:t>XGBoost</a:t>
            </a:r>
            <a:r>
              <a:rPr lang="en-US" sz="2100" dirty="0"/>
              <a:t> (multi-class capable).</a:t>
            </a:r>
          </a:p>
          <a:p>
            <a:pPr lvl="2"/>
            <a:r>
              <a:rPr lang="en-US" sz="2100" dirty="0"/>
              <a:t>Predicts fault / maintenance category.</a:t>
            </a:r>
          </a:p>
          <a:p>
            <a:pPr lvl="1"/>
            <a:r>
              <a:rPr lang="en-US" sz="2100" dirty="0"/>
              <a:t>RUL Regression Model</a:t>
            </a:r>
          </a:p>
          <a:p>
            <a:pPr lvl="2"/>
            <a:r>
              <a:rPr lang="en-US" sz="2100" dirty="0" err="1"/>
              <a:t>LightGBM</a:t>
            </a:r>
            <a:r>
              <a:rPr lang="en-US" sz="2100" dirty="0"/>
              <a:t> Regressor.</a:t>
            </a:r>
          </a:p>
          <a:p>
            <a:pPr lvl="2"/>
            <a:r>
              <a:rPr lang="en-US" sz="2100" dirty="0"/>
              <a:t>Non-linear degradation modeling.</a:t>
            </a:r>
            <a:endParaRPr lang="en-VN" sz="2100" dirty="0"/>
          </a:p>
          <a:p>
            <a:pPr lvl="1"/>
            <a:endParaRPr lang="en-VN" dirty="0"/>
          </a:p>
          <a:p>
            <a:pPr lvl="1"/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7488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16FA-AB88-5EAE-D243-A05CA22E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FASTAPI – Interfere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D7E5-CD80-75A6-DCF6-A8EA51E32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76530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16FA-AB88-5EAE-D243-A05CA22E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Monitoring and ALERT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D7E5-CD80-75A6-DCF6-A8EA51E32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44805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16FA-AB88-5EAE-D243-A05CA22E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22222"/>
                </a:solidFill>
                <a:latin typeface="Helvetica Neue" panose="02000503000000020004" pitchFamily="2" charset="0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D7E5-CD80-75A6-DCF6-A8EA51E32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VN" dirty="0"/>
              <a:t>un docker.</a:t>
            </a:r>
          </a:p>
          <a:p>
            <a:r>
              <a:rPr lang="vi-VN" dirty="0"/>
              <a:t>Trigger model training in a docker.</a:t>
            </a:r>
          </a:p>
          <a:p>
            <a:r>
              <a:rPr lang="vi-VN" dirty="0"/>
              <a:t>View training status in MLFLOW docker.</a:t>
            </a:r>
          </a:p>
          <a:p>
            <a:r>
              <a:rPr lang="en-US" dirty="0"/>
              <a:t>Trigger query to </a:t>
            </a:r>
            <a:r>
              <a:rPr lang="en-US" dirty="0" err="1"/>
              <a:t>FastAPI</a:t>
            </a:r>
            <a:r>
              <a:rPr lang="en-US" dirty="0"/>
              <a:t>.</a:t>
            </a:r>
          </a:p>
          <a:p>
            <a:r>
              <a:rPr lang="en-US" dirty="0"/>
              <a:t>View alerts in monitoring dashboard.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255252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A36C4C-B80B-1DC3-74D9-D03C87C7F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Q&amp;A</a:t>
            </a:r>
          </a:p>
          <a:p>
            <a:r>
              <a:rPr lang="en-VN" dirty="0"/>
              <a:t>Thank you very.much!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1513A05-4943-EF45-A3C2-F7237D5A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63756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{74240859-D432-6045-822B-A35924B72DFC}tf10001119</Template>
  <TotalTime>133</TotalTime>
  <Words>474</Words>
  <Application>Microsoft Macintosh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Gill Sans MT</vt:lpstr>
      <vt:lpstr>Helvetica Neue</vt:lpstr>
      <vt:lpstr>Times New Roman</vt:lpstr>
      <vt:lpstr>Wingdings</vt:lpstr>
      <vt:lpstr>Gallery</vt:lpstr>
      <vt:lpstr>MSE25HN - DDM501.7 Predictive Maintenance MLOP </vt:lpstr>
      <vt:lpstr>agenda</vt:lpstr>
      <vt:lpstr>What is Predictive Maintenance in electric vehicle</vt:lpstr>
      <vt:lpstr>What is Predictive Maintenance in electric vehicle</vt:lpstr>
      <vt:lpstr>What is Predictive Maintenance in electric vehicle</vt:lpstr>
      <vt:lpstr>Predictive Maintenance in ML Flow.</vt:lpstr>
      <vt:lpstr>Dataset and AI algorithm</vt:lpstr>
      <vt:lpstr>FASTAPI – Interfere Server</vt:lpstr>
      <vt:lpstr>Monitoring and ALERT</vt:lpstr>
      <vt:lpstr>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MSE24HN DDM501.7 Predictive Maintenance MLOP </dc:title>
  <dc:creator>Tam Ngoc nguyen</dc:creator>
  <cp:lastModifiedBy>Tam Ngoc nguyen</cp:lastModifiedBy>
  <cp:revision>19</cp:revision>
  <dcterms:created xsi:type="dcterms:W3CDTF">2025-12-22T14:09:36Z</dcterms:created>
  <dcterms:modified xsi:type="dcterms:W3CDTF">2025-12-24T05:26:30Z</dcterms:modified>
</cp:coreProperties>
</file>